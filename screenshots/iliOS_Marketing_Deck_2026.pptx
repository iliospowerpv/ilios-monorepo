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s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>
              <a:alpha val="6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18288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iliOS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E8A838"/>
                </a:solidFill>
                <a:latin typeface="Calibri"/>
              </a:defRPr>
            </a:pPr>
            <a:r>
              <a:t>The Sun's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4EB"/>
                </a:solidFill>
                <a:latin typeface="Calibri"/>
              </a:defRPr>
            </a:pPr>
            <a:r>
              <a:t>AI-Powered Real Estate Investment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A94A6"/>
                </a:solidFill>
                <a:latin typeface="Calibri"/>
              </a:defRPr>
            </a:pPr>
            <a:r>
              <a:t>Product Overview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Real Estate Investment Management Is Broken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8A83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Manual Document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Teams spend weeks manually reading leases, PPAs, and financial models with no standardized extraction or verification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8A83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Fragmented 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0175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Critical investment data lives across spreadsheets, email chains, and disconnected systems with no single source of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8056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09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8A83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Slow Due Diligence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206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Cross-document analysis requires senior analysts to manually compare terms across dozens of files per project.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8056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709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8A83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 Operational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1206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Asset performance, telemetry, and financial health are tracked in silos with no unified monitoring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One Platform for the Entire Investment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320040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AI Data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Automated document parsing, field extraction, and verification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560320"/>
            <a:ext cx="320040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Acquisitions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91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13-stage deal pipeline from origination through closing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60320"/>
            <a:ext cx="320040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Project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91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Unified asset management, due diligence, and operational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320040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94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Capital governance, budgeting, and vendor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663440"/>
            <a:ext cx="320040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394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Real-time production monitoring and device health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663440"/>
            <a:ext cx="320040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3949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PowerBI integration for portfolio-wide business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_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0F1A2E">
              <a:alpha val="5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AI-POWERED DATA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Documents That Read Themselves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4EB"/>
                </a:solidFill>
                <a:latin typeface="Calibri"/>
              </a:defRPr>
            </a:pPr>
            <a:r>
              <a:t>iliOS uses advanced AI to automatically parse, extract, and verify critical data from every document in your investment portfolio.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Automated PDF/document parsing with AI field extraction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54787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Programmatic page navigation linked to extracted evidence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9651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Sequential verification workflow with audit trail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64515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Bulk acceptance with parse run safety validation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9379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Support for 16+ document types across the portfolio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74243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AI DOCUMENT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How AI Transforms Your Document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468880" cy="237744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834640"/>
            <a:ext cx="640080" cy="64008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F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Drop any PDF, lease, PPA, or financial model into the Data Room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3474720"/>
            <a:ext cx="274320" cy="27432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560320"/>
            <a:ext cx="2468880" cy="237744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834640"/>
            <a:ext cx="640080" cy="64008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880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F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OpenAI-powered extraction identifies key terms, dates, and values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80" y="3474720"/>
            <a:ext cx="274320" cy="27432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2468880" cy="237744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0" y="2834640"/>
            <a:ext cx="640080" cy="64008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880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F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Each extracted field links to its source page for evidence review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61120" y="3474720"/>
            <a:ext cx="274320" cy="27432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2560320"/>
            <a:ext cx="2468880" cy="237744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0" y="2834640"/>
            <a:ext cx="640080" cy="64008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880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F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1148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Bulk acceptance promotes verified data to current assumptions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A94A6"/>
                </a:solidFill>
                <a:latin typeface="Calibri"/>
              </a:defRPr>
            </a:pPr>
            <a:r>
              <a:t>Fully in-app parsing powered by OpenAI  --  no external services, no data leaves your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SMART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Cross-Document Analysis at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Terms &amp; Values Roll-Up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80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AI aggregates and compares key terms across all project documents, surfacing discrepancies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886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Co-Terminus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51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Automatically verifies that contract end dates align across related agreements like leases and PPAs.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1206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257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DD Health Indicator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Project-level health score based on document completeness, verification status, and cross-document consistency.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Document Versioning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Track candidate, active, and retired versions with full promotion history and diff computation.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886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Acceptance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Validates parse run status before allowing bulk acceptance, preventing stale data from entering assumptions.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1206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257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6235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Every extraction, verification, and promotion action is logged with user, timestamp, and evidence links.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EXTRACTION REGISTRY &amp; PROMPT STUDIO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Configure AI Without Writing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4EB"/>
                </a:solidFill>
                <a:latin typeface="Calibri"/>
              </a:defRPr>
            </a:pPr>
            <a:r>
              <a:t>The Extraction Registry lets your team define new document types and extraction fields through a visual interface -- no engineering required. The Prompt Studio provides full control over AI prompt templates for each document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Dynamic document type configuration via database-driven schemas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73075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Custom field definitions with validation rules per document type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427939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Prompt template editor for fine-tuning AI extraction accuracy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82803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Re-extraction workflows for iterative quality improvement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537667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4EB"/>
                </a:solidFill>
                <a:latin typeface="Calibri"/>
              </a:defRPr>
            </a:pPr>
            <a:r>
              <a:t>Quality guardrails: configurable text length, file size, and LLM limits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5925312"/>
            <a:ext cx="101600" cy="1016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2743200"/>
            <a:ext cx="1554480" cy="16459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926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16+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Document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743200"/>
            <a:ext cx="1554480" cy="16459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926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Extraction Fields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2743200"/>
            <a:ext cx="1554480" cy="16459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2926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8A838"/>
                </a:solidFill>
                <a:latin typeface="Calibri"/>
              </a:defRPr>
            </a:pPr>
            <a:r>
              <a:t>99.2%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Parse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TELEMETRY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Real-Time Solar Production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Production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80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Track actual vs. expected energy production across all sites with daily, weekly, and monthly 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886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Device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51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Monitor inverters, weather stations, and modules with MTBF/MTTR availability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1206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257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DAS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Connect to Data Acquisition Systems for automated telemetry ingestion and device mapping.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Irradiance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Compare actual vs. expected irradiance with hourly granularity to identify underperformance.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886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Cumulative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Portfolio-wide and site-level cumulative energy tracking against capacity-based expectations.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120640"/>
            <a:ext cx="5029200" cy="118872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257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8A838"/>
                </a:solidFill>
                <a:latin typeface="Calibri"/>
              </a:defRPr>
            </a:pPr>
            <a:r>
              <a:t>Company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6235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Aggregate production data across all sites with fleet-level performance overview.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ACQUISITIONS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13-Stage Deal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4EB"/>
                </a:solidFill>
                <a:latin typeface="Calibri"/>
              </a:defRPr>
            </a:pPr>
            <a:r>
              <a:t>Track every deal from initial screening through closing with full entity management, readiness scoring, and executive summaries.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1691640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Screening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67712" y="338328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23159" y="3200400"/>
            <a:ext cx="1691640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3291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Initial Review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42231" y="338328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8" y="3200400"/>
            <a:ext cx="1691640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8" y="3291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16750" y="338328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197" y="3200400"/>
            <a:ext cx="1691640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7" y="3291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91269" y="338328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16" y="3200400"/>
            <a:ext cx="1691640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6" y="3291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Underwriting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765788" y="338328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21235" y="3200400"/>
            <a:ext cx="1691640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35" y="3291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IC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06240"/>
            <a:ext cx="1444752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Negotiation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020824" y="438912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76272" y="4206240"/>
            <a:ext cx="1444752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76272" y="429768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Legal Review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648456" y="438912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03904" y="4206240"/>
            <a:ext cx="1444752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3904" y="429768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Financing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276088" y="438912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31536" y="4206240"/>
            <a:ext cx="1444752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31536" y="429768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Closing Prep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03720" y="438912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59168" y="4206240"/>
            <a:ext cx="1444752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29768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Signing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531352" y="438912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0" y="4206240"/>
            <a:ext cx="1444752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29768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Post-Close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158984" y="4389120"/>
            <a:ext cx="137160" cy="182880"/>
          </a:xfrm>
          <a:prstGeom prst="rightArrow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314432" y="4206240"/>
            <a:ext cx="1444752" cy="64008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14432" y="4297680"/>
            <a:ext cx="1444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212080"/>
            <a:ext cx="3200400" cy="13716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A838"/>
                </a:solidFill>
                <a:latin typeface="Calibri"/>
              </a:defRPr>
            </a:pPr>
            <a:r>
              <a:t>Entity Directory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715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Link legal entities, EPCs, offtakers, and tax equity partners to every deal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5212080"/>
            <a:ext cx="3200400" cy="13716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A838"/>
                </a:solidFill>
                <a:latin typeface="Calibri"/>
              </a:defRPr>
            </a:pPr>
            <a:r>
              <a:t>Deal Readiness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715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Automated scoring based on entity assignments, DD completeness, and docs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5212080"/>
            <a:ext cx="3200400" cy="13716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A83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715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One-click overview of deal terms, timeline, and key stakeholders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FINANCE &amp;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Capital Governance with Full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Integration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Connect multiple external finance providers with encrypted credentials and pluggable architecture. Sync accounts and transactions with upsert semantics for idempotent reruns.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37744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Health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Real-time sync status indicators (Healthy, Attention Needed, In Progress) with automated stale-sync detection and actionable error summaries.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8056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709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Budgeting &amp; Vendors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1206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Company-level budget tracking with vendor management, account mapping to projects, and 30-day transaction summaries at a glance.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48056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709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A838"/>
                </a:solidFill>
                <a:latin typeface="Calibri"/>
              </a:defRPr>
            </a:pPr>
            <a:r>
              <a:t>PowerBI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206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4EB"/>
                </a:solidFill>
                <a:latin typeface="Calibri"/>
              </a:defRPr>
            </a:pPr>
            <a:r>
              <a:t>Embedded PowerBI dashboards for portfolio-wide business intelligence, with row-level security matching platform access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PRODUCT SCREENSHOT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The Data Room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754880"/>
          </a:xfrm>
          <a:prstGeom prst="roundRect">
            <a:avLst/>
          </a:prstGeom>
          <a:solidFill>
            <a:srgbClr val="203048"/>
          </a:solidFill>
          <a:ln w="12700">
            <a:solidFill>
              <a:srgbClr val="3B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-room-marketing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10332720" cy="51575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A838"/>
                </a:solidFill>
                <a:latin typeface="Calibri"/>
              </a:defRPr>
            </a:pPr>
            <a:r>
              <a:t>SECURITY &amp;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3716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Enterprise-Grade Data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69748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249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Multi-Company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Granular authorization with a Canonical Effective-Access Resolver supporting read-only, contributor, and company admin roles across portfolios.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7744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69748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249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Module-Level 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0175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Fine-grained permission enforcement at the module level -- control who can view, edit, or manage each area of the platform.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480060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28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Role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206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Detailed stakeholder definitions with Portfolio Hub Boundary Model for precise data visibility and operational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80560"/>
            <a:ext cx="4937760" cy="1828800"/>
          </a:xfrm>
          <a:prstGeom prst="roundRect">
            <a:avLst/>
          </a:prstGeom>
          <a:solidFill>
            <a:srgbClr val="16253D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480060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828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Encrypted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1206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4EB"/>
                </a:solidFill>
                <a:latin typeface="Calibri"/>
              </a:defRPr>
            </a:pPr>
            <a:r>
              <a:t>All third-party integration credentials are encrypted at rest with environment-level isolation between tenants.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al_estate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2E">
              <a:alpha val="6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2011680"/>
            <a:ext cx="457200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64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iliOS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E8A838"/>
                </a:solidFill>
                <a:latin typeface="Calibri"/>
              </a:defRPr>
            </a:pPr>
            <a:r>
              <a:t>The Sun's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4EB"/>
                </a:solidFill>
                <a:latin typeface="Calibri"/>
              </a:defRPr>
            </a:pPr>
            <a:r>
              <a:t>AI-powered real estate investment management</a:t>
            </a:r>
            <a:br/>
            <a:r>
              <a:t>for the modern portfolio.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5486400"/>
            <a:ext cx="2103120" cy="381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A94A6"/>
                </a:solidFill>
                <a:latin typeface="Calibri"/>
              </a:defRPr>
            </a:pPr>
            <a:r>
              <a:t>Schedule a Demo  |  info@ilios.energy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